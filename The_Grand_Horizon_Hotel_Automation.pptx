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4046220"/>
          </a:xfrm>
          <a:prstGeom prst="rect">
            <a:avLst/>
          </a:prstGeom>
          <a:solidFill>
            <a:srgbClr val="1C1917"/>
          </a:solidFill>
          <a:ln w="12700">
            <a:solidFill>
              <a:srgbClr val="3F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F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SOFTWARE ENGINEERING DEFENSE • CSE DEPARTMENT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GRAND HORIZON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C5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of Activities for a 5-Star Luxury Resort &amp; Hotel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12700">
            <a:solidFill>
              <a:srgbClr val="3F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UML Modeling: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1-3, Statechart, Use Case &amp; Class Diagram
</a:t>
            </a:r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Tariff Control: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revisions based on monthly average occupancy
</a:t>
            </a:r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Stack: 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Node.js/Express, SQLite WAL, Vercel/Render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EXECUTIVE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Engineering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luxury 5-star hotel requires an automated system to manage rooms, bookings, catering, tariffs, and checkout folios.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Guest Suites: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Bed vs Double Bed, Air Conditioned (AC) vs Non-AC.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Tariff Variation: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fluctuate based on monthly average occupancy. Software computes average occupancy for managers to calibrate tariffs (+% / -%).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Reservation &amp; Allotment: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or spot booking, unique token issuance, or formal apology message on full occupancy.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In-Room Dining &amp; Folio Settlement: 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food consumption logging, advance deduction, and Frequent Guest ID loyalty discount on checkout.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749040" cy="3566160"/>
          </a:xfrm>
          <a:prstGeom prst="rect">
            <a:avLst/>
          </a:prstGeom>
          <a:solidFill>
            <a:srgbClr val="F7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ENGINEERING CONSTRAINTS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Strict UML Specification Alignment
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implements all entities, lifelines, messages, states, and operations from all 5 supplied UML documents.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100% Free &amp; Open-Source Stack
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cloud services. Built entirely using React, Express, and local SQLite database.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Quiet Luxury 5-Star Presentation
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Aman/Rosewood editorial design system (Cormorant Garamond, warm neutrals, zero neon/gradients), with role-based separation between public guests and staff.
</a:t>
            </a:r>
            <a:pPr indent="0" marL="0">
              <a:lnSpc>
                <a:spcPts val="1600"/>
              </a:lnSpc>
              <a:buNone/>
            </a:pPr>
            <a:r>
              <a:rPr lang="en-US" sz="9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Automated Verification Suite
</a:t>
            </a:r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harness testing all 7 core UML flows with 100%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TECHNICAL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 Layered Software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245059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SPA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208483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86000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Aman/Rosewood Quiet Luxury Design System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Cormorant Garamond &amp; Montserrat Typography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View Separation (Guest vs Staff)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Dedicated Staff Terminals (Front Desk, Dining, Manager, Audit)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Availability Bar &amp; Guest Booking Modal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Printable SVG/HTML Tax Folio Voucher Modals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346704" y="1143000"/>
            <a:ext cx="245059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32588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9584" y="15544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&amp; Business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9584" y="187452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5.x REST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29584" y="2148840"/>
            <a:ext cx="208483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2286000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HotelService Domain Controller (UML methods)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checkAvailability() &amp; allocateRoom() logic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generateToken() unique 4-digit token algorithm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calculateOccupancyRate() monthly engine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reviseRate() dynamic percentage calibrator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calculateBill() with 15% VIP loyalty discount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961888" y="1143000"/>
            <a:ext cx="245059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32588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44768" y="15544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 &amp; Database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44768" y="1874520"/>
            <a:ext cx="2084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Relational Database (WAL)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44768" y="2148840"/>
            <a:ext cx="2084832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2286000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Relational Tables matching UML Entities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 Constraints &amp; Cascading Updates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Write-Ahead Logging (WAL) for concurrency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Pre-seeded with 24 Suites, Tariffs, &amp; VIPs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Zero-cost, file-based ACID compliance</a:t>
            </a:r>
            <a:endParaRPr lang="en-US" sz="8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SQLite Cloud / Turso if deployed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UML MODELING: USE CASE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Actors &amp; Operational Scope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diagrams\uml_use_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38912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1143000"/>
            <a:ext cx="3108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USE CASE MAPPING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0" y="16002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Guest (External Actor)
</a:t>
            </a:r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real-time availability, submits room requests, pays advance, consumes catering, settles folio.
</a:t>
            </a:r>
            <a:pPr indent="0" marL="0">
              <a:lnSpc>
                <a:spcPts val="1400"/>
              </a:lnSpc>
              <a:buNone/>
            </a:pPr>
            <a:r>
              <a:rPr lang="en-US" sz="88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Receptionist (Front Desk)
</a:t>
            </a:r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guest data, allocates suites, triggers polite apology if unavailable, issues tokens, executes checkout.
</a:t>
            </a:r>
            <a:pPr indent="0" marL="0">
              <a:lnSpc>
                <a:spcPts val="1400"/>
              </a:lnSpc>
              <a:buNone/>
            </a:pPr>
            <a:r>
              <a:rPr lang="en-US" sz="88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Catering Manager
</a:t>
            </a:r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food items, specifies quantities, records consumption against guest token with date/time.
</a:t>
            </a:r>
            <a:pPr indent="0" marL="0">
              <a:lnSpc>
                <a:spcPts val="1400"/>
              </a:lnSpc>
              <a:buNone/>
            </a:pPr>
            <a:r>
              <a:rPr lang="en-US" sz="88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Hotel Manager
</a:t>
            </a:r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monthly occupancy rate, decides percentage tariff revision (+% / -%), recalibrates room prices.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UML SEQUENCE DIAGRAM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Reservation, Allotment &amp; Token Generation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diagrams\uml_sequenc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023360" cy="3474720"/>
          </a:xfrm>
          <a:prstGeom prst="rect">
            <a:avLst/>
          </a:prstGeom>
        </p:spPr>
      </p:pic>
      <p:pic>
        <p:nvPicPr>
          <p:cNvPr id="7" name="Image 1" descr="C:\Users\mohan\Desktop\SWE Project\presentation_assets\screenshots\04_front_de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474720" cy="219456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3429000"/>
            <a:ext cx="3474720" cy="1188720"/>
          </a:xfrm>
          <a:prstGeom prst="rect">
            <a:avLst/>
          </a:prstGeom>
          <a:solidFill>
            <a:srgbClr val="F7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7492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Verification (Sequence 1):
</a:t>
            </a:r>
            <a:pPr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checkAvailability(bed, ac): Queries DB for matching suite.
</a:t>
            </a:r>
            <a:pPr indent="0" marL="0">
              <a:lnSpc>
                <a:spcPts val="1300"/>
              </a:lnSpc>
              <a:buNone/>
            </a:pPr>
            <a:r>
              <a:rPr lang="en-US" sz="8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 Room Available: Allots room, marks "Occupied", and generates unique TKN-XXXX token.
</a:t>
            </a:r>
            <a:pPr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 No Room Available: Launches polite formal apology modal with alternative categories.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UML SEQUENCE DIAGRAM 2 (PART A)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Token-Based In-Room Dining &amp; Catering Logger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diagrams\uml_sequenc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023360" cy="3474720"/>
          </a:xfrm>
          <a:prstGeom prst="rect">
            <a:avLst/>
          </a:prstGeom>
        </p:spPr>
      </p:pic>
      <p:pic>
        <p:nvPicPr>
          <p:cNvPr id="7" name="Image 1" descr="C:\Users\mohan\Desktop\SWE Project\presentation_assets\screenshots\05_cate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474720" cy="219456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3429000"/>
            <a:ext cx="3474720" cy="1188720"/>
          </a:xfrm>
          <a:prstGeom prst="rect">
            <a:avLst/>
          </a:prstGeom>
          <a:solidFill>
            <a:srgbClr val="F7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7492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Verification (Catering Logging):
</a:t>
            </a:r>
            <a:pPr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Token-Driven Decoupling: Orders logged strictly by guest token (e.g. TKN-1001), shielding guest identity.
</a:t>
            </a:r>
            <a:pPr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Atomic Charge Calculation: FoodItem.price × quantity recorded with date and time.
</a:t>
            </a:r>
            <a:pPr indent="0" marL="0">
              <a:lnSpc>
                <a:spcPts val="1300"/>
              </a:lnSpc>
              <a:buNone/>
            </a:pPr>
            <a:r>
              <a:rPr lang="en-US" sz="8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Allotment Link: Aggregated dynamically at checkout into final folio.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UML SEQUENCE DIAGRAM 2 (PART B)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Occupancy &amp; Dynamic Percentage Tariff Revision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diagrams\uml_sequenc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023360" cy="3474720"/>
          </a:xfrm>
          <a:prstGeom prst="rect">
            <a:avLst/>
          </a:prstGeom>
        </p:spPr>
      </p:pic>
      <p:pic>
        <p:nvPicPr>
          <p:cNvPr id="7" name="Image 1" descr="C:\Users\mohan\Desktop\SWE Project\presentation_assets\screenshots\06_manager_tari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474720" cy="219456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3429000"/>
            <a:ext cx="3474720" cy="1188720"/>
          </a:xfrm>
          <a:prstGeom prst="rect">
            <a:avLst/>
          </a:prstGeom>
          <a:solidFill>
            <a:srgbClr val="F7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7492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Tariff Calibration Engine:
</a:t>
            </a:r>
            <a:pPr indent="0" marL="0">
              <a:lnSpc>
                <a:spcPts val="1300"/>
              </a:lnSpc>
              <a:buNone/>
            </a:pPr>
            <a:r>
              <a:rPr lang="en-US" sz="820" b="1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Occupancy Rate (%) = (Occupied Room-Days / Total Available Room-Days) × 100
</a:t>
            </a:r>
            <a:pPr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Percentage Revision: Manager applies +% (peak) or -% (off-peak) via slider.
</a:t>
            </a:r>
            <a:pPr indent="0" marL="0">
              <a:lnSpc>
                <a:spcPts val="1300"/>
              </a:lnSpc>
              <a:buNone/>
            </a:pPr>
            <a:r>
              <a:rPr lang="en-US" sz="8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Immediate Update: Room base rates &amp; future booking calculations update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UML SEQUENCE DIAGRAM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Checkout, Loyalty Discounts &amp; Folio Settlement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diagrams\uml_sequenc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023360" cy="3474720"/>
          </a:xfrm>
          <a:prstGeom prst="rect">
            <a:avLst/>
          </a:prstGeom>
        </p:spPr>
      </p:pic>
      <p:pic>
        <p:nvPicPr>
          <p:cNvPr id="7" name="Image 1" descr="C:\Users\mohan\Desktop\SWE Project\presentation_assets\screenshots\07_tax_invoice_fol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474720" cy="219456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37760" y="3429000"/>
            <a:ext cx="3474720" cy="1188720"/>
          </a:xfrm>
          <a:prstGeom prst="rect">
            <a:avLst/>
          </a:prstGeom>
          <a:solidFill>
            <a:srgbClr val="F7F4EE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7492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Settlement Flow:
</a:t>
            </a:r>
            <a:pPr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Charge Aggregation: (Room Rate × Nights) + Σ Catering Consumptions.
</a:t>
            </a:r>
            <a:pPr indent="0" marL="0">
              <a:lnSpc>
                <a:spcPts val="1300"/>
              </a:lnSpc>
              <a:buNone/>
            </a:pPr>
            <a:r>
              <a:rPr lang="en-US" sz="820" b="1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Frequent Guest Loyalty: Auto-applies 15% VIP discount on room charges.
</a:t>
            </a:r>
            <a:pPr indent="0" marL="0">
              <a:lnSpc>
                <a:spcPts val="1300"/>
              </a:lnSpc>
              <a:buNone/>
            </a:pPr>
            <a:r>
              <a:rPr lang="en-US" sz="8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Balance: Deducts advance deposit; releases room to "Available" status.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UML STATE MACHINE MODELING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 &amp; Reservation Lifecycle Statechart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diagrams\uml_stat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7548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325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5216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Available: </a:t>
            </a:r>
            <a:pPr indent="0" marL="0"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ready for allotment in pool.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5852160" y="1984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Reserved: </a:t>
            </a:r>
            <a:pPr indent="0" marL="0"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booking logged with arrival date.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5852160" y="2368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CheckedIn: </a:t>
            </a:r>
            <a:pPr indent="0" marL="0"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arrived, advance deposited, token issued.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5852160" y="27523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Staying: </a:t>
            </a:r>
            <a:pPr indent="0" marL="0"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In-room dining charges accumulating.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5852160" y="3136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BillGeneration: </a:t>
            </a:r>
            <a:pPr indent="0" marL="0"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aggregated, VIP discount evaluated.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585216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CheckedOut: </a:t>
            </a:r>
            <a:pPr indent="0" marL="0"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settled, token marked Closed.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5852160" y="3904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Released: </a:t>
            </a:r>
            <a:pPr indent="0" marL="0"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reverts to Available status.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UML CLASS DIAGRAM &amp; DOMAIN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Interconnected Domain Entities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diagrams\uml_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47548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325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MODEL SPECIFICATION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52160" y="160020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Hotel: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aggregate containing 24 rooms.
</a:t>
            </a:r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Single/Double × AC/Non-AC combinations.
</a:t>
            </a:r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Tariff: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base rate &amp; % revision logic.
</a:t>
            </a:r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Occupancy: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historical monthly utilization.
</a:t>
            </a:r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details, advance deposit, Frequent ID.
</a:t>
            </a:r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access key for guest stays.
</a:t>
            </a:r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FoodItem &amp; FoodConsumption: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 linked to stay tokens.
</a:t>
            </a:r>
            <a:pPr indent="0" marL="0">
              <a:lnSpc>
                <a:spcPts val="1400"/>
              </a:lnSpc>
              <a:buNone/>
            </a:pPr>
            <a:r>
              <a:rPr lang="en-US" sz="82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Bill: </a:t>
            </a:r>
            <a:pPr indent="0" marL="0">
              <a:lnSpc>
                <a:spcPts val="1400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tax folio invoice ledger.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RELATIONAL DATABASE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Normalized SQLite Relational Tables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7680960" cy="347472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Name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 / Key Columns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Purpose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roomNumber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bedType, acType, rate, status, tariffId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of 24 suites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tariffId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bedType, acType, rate, lastRevisedDate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rate rules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phone, arrivalTime, durationOfStay, advancePaid, frequentGuestId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guest profiles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guestId, roomNumber, arrivalDate, duration, reservationType, status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Allotment records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tokenNumber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guestId, issueDate, issueTime, status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4-digit unique stay tokens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food_items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category, price, description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Gourmet dining menu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food_consumptions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tokenNumber, itemId, quantity, date, time, totalAmount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In-room orders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tokenNumber, guestId, roomCharges, foodCharges, discountAmount, netPayable, status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 tax folios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occupancies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month, year, occupiedDays, totalDays, occupancyRate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analytics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frequent_guests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frequentGuestId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discountPercentage, totalVisits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loyalty directory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ALGORITHMIC FORMULATIONS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Mathematical Logic &amp; Business Rules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52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01: DYNAMIC TARIFF REVISION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490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RevisedRate = BaseRate × ( 1 ± (Percentage / 100) 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managerial calibration upwards (+%) for peak seasonal demand or downwards (-%) for off-peak promotions. Rounding to 2 decimal places applies immediately to new bookings.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02: MONTHLY AVERAGE OCCUPANCY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679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OccupancyRate(%) = ( Occupied Room-Days / Total Available Room-Days ) × 100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all active reservation durations spanning the selected calendar month divided by (24 Suites × Days in Month). Provides the empirical basis for tariff adjustment.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30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03: FOLIO SETTLEMENT &amp; LOYALTY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867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NetPayable = ( RoomCharges + FoodCharges - VIPDiscount ) - AdvancePaid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VIPDiscount = RoomCharges × 0.15 for verified Frequent Guest IDs. Advance deposits are credited off total charges, preventing double-billing.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FRONTEND UI ENGINEERING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 Luxury Sanctuary &amp; Guest Reservation 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pic>
        <p:nvPicPr>
          <p:cNvPr id="6" name="Image 0" descr="C:\Users\mohan\Desktop\SWE Project\presentation_assets\screenshots\01_landing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43000"/>
            <a:ext cx="3749040" cy="2286000"/>
          </a:xfrm>
          <a:prstGeom prst="ellipse">
            <a:avLst/>
          </a:prstGeom>
        </p:spPr>
      </p:pic>
      <p:pic>
        <p:nvPicPr>
          <p:cNvPr id="7" name="Image 1" descr="C:\Users\mohan\Desktop\SWE Project\presentation_assets\screenshots\02_booking_vou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749040" cy="2286000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36758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SEPARATION &amp; BESPOKE LUXURY DESIGN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14400" y="3886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Editorial Aesthetics: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serif headings (Cormorant Garamond), warm sand backgrounds (#FBF9F5), zero neon, and flat hairline borders.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Discrete Staff Gateway: 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view contains zero internal operational counters. Staff access terminals via a discrete modal selection.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Guest Booking: 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verification with immediate token generation and downloadable stay voucher.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VERIFICATION &amp; QUALITY ASSURANCE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End-to-End Test Suite Execution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7680960" cy="2560320"/>
        </p:xfrm>
        <a:graphic>
          <a:graphicData uri="http://schemas.openxmlformats.org/drawingml/2006/table">
            <a:tbl>
              <a:tblPr/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 Tested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Parameters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UML Outcome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Overview &amp; Inventory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/api/hotel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Suites, Available/Occupied breakdown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 (100%)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Diag 1: Allotment &amp; Token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Bed: Double, AC: AC, 3 nights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402 allotted, Token TKN-XXXX issued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 (100%)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Diag 2: Catering Consumption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Angus Filet Mignon ×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$136.00 linked to guest token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 (100%)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Diag 2: Dynamic Tariff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10 Occupancy, Revise +10%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adjusted upwards from $320 to $352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 (100%)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Diag 3: Bill Calculation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VIP-777 (15% Loyalty Discount)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balance payable calculated accurately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 (100%)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Diag 3: Checkout &amp; Release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processCheckout(tokenNumber)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BIL-XXXX stored; Room released to Available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 (100%)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Diag 1: Apology on Full Suite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Exceed available category count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polite apology message generated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PASSED (100%)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95020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AUTOMATED TEST SUITE PASS RATE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4169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via "node server/test-all-flows.js". All 7 core UML specifications verified against database persistence with zero runtime warnings or assertion failures.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C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CONCLUSION &amp; DEFENSE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Deliverables &amp; Software Engineering Value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0"/>
          </a:xfrm>
          <a:prstGeom prst="line">
            <a:avLst/>
          </a:prstGeom>
          <a:noFill/>
          <a:ln w="12700">
            <a:solidFill>
              <a:srgbClr val="E7DF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846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HORIZON • 5-STAR HOTEL AUTOMATION SYSTEM • SOFTWARE ENGINEERING DEFENSE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3749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UML Conformance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rigorous compliance with provided Sequence Diagrams 1–3, Statechart, Use Case Diagram, Activity Flowchart, and Class Diagram.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749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Zero-Cost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entirely with free tools (React, Express, SQLite). Suitable for cost-free cloud deployment on Render and Vercel.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3749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World-Class UX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SaaS clutter and raw stats from the public landing page in favor of an Aman/Rosewood quiet luxury aesthetic with role-based portal separation.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3749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Data Integrity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8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SQLite transactions with foreign key cascades, unique token tracking, and audited billing folios.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2452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FA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DEMONSTRATION • 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The Grand Horizon Hotel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5-Star Hotel Automation System — Software Engineering Defense</dc:title>
  <dc:subject>PptxGenJS Presentation</dc:subject>
  <dc:creator>Software Engineering Team</dc:creator>
  <cp:lastModifiedBy>Software Engineering Team</cp:lastModifiedBy>
  <cp:revision>1</cp:revision>
  <dcterms:created xsi:type="dcterms:W3CDTF">2026-09-30T19:33:28Z</dcterms:created>
  <dcterms:modified xsi:type="dcterms:W3CDTF">2026-09-30T19:33:28Z</dcterms:modified>
</cp:coreProperties>
</file>